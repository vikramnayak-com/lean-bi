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9" r:id="rId4"/>
    <p:sldId id="267" r:id="rId5"/>
    <p:sldId id="268" r:id="rId6"/>
    <p:sldId id="269" r:id="rId7"/>
    <p:sldId id="260" r:id="rId8"/>
    <p:sldId id="262" r:id="rId9"/>
    <p:sldId id="264" r:id="rId10"/>
    <p:sldId id="265" r:id="rId11"/>
    <p:sldId id="270" r:id="rId12"/>
    <p:sldId id="271" r:id="rId13"/>
    <p:sldId id="272" r:id="rId14"/>
    <p:sldId id="273" r:id="rId15"/>
    <p:sldId id="276" r:id="rId16"/>
    <p:sldId id="274" r:id="rId17"/>
    <p:sldId id="277" r:id="rId18"/>
    <p:sldId id="275" r:id="rId19"/>
    <p:sldId id="278" r:id="rId20"/>
    <p:sldId id="279" r:id="rId21"/>
    <p:sldId id="280" r:id="rId22"/>
    <p:sldId id="281" r:id="rId23"/>
    <p:sldId id="282" r:id="rId24"/>
    <p:sldId id="285" r:id="rId25"/>
    <p:sldId id="283" r:id="rId26"/>
    <p:sldId id="284" r:id="rId27"/>
    <p:sldId id="286" r:id="rId28"/>
    <p:sldId id="287" r:id="rId29"/>
    <p:sldId id="288" r:id="rId30"/>
    <p:sldId id="291" r:id="rId31"/>
    <p:sldId id="292" r:id="rId32"/>
    <p:sldId id="290" r:id="rId33"/>
    <p:sldId id="29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1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EA6E-7D8A-9289-497C-26D92D24F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DD986-DC5F-7609-11B3-056626F13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F0507-D949-FC21-48DE-FF434074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93ACA-BEB3-FD70-7F93-C4927950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7DDC9-DC0C-722A-905A-C2920D4A9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93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C4B4-F4C7-3A50-235D-AF881245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047D1-2813-1BD8-9F6E-D2838C127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148F6-E4AF-6D0B-A1DB-85FB8CB5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F1EAD-1B48-BF73-001E-C1105117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6DD1F-4A49-01B0-25A8-FA326079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13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D0EA-156F-ED06-8C4C-EAC4F271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54A92-E43B-F7AC-1DC3-94F6E3DE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6CA14-211D-B5A8-C312-F7ECA852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46FFE-3CFF-345E-CEC9-4EF81D90B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A8B2B-7A6B-A9CB-7B1C-10823892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179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1ED1E-B0AE-F146-F99F-2EAEC1F3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4F058-F839-D653-C08F-C7AA7E97B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5D9EC-D889-31E5-74FA-0EFAE323C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3E8D8-F81D-F696-27DE-05AC2D65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0FCA4-CD1A-4F66-42A1-DC299397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86880-F4BB-7BE1-C1D9-8A321B1D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58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5BA4-41C6-6A13-14EC-869D3BF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B6B48-9CD6-38D8-26BC-01820273C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6B2CA-F64C-FC13-93A9-39D34FCD8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B582D-E875-1DEC-5915-8371BEE82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A5128-56A1-96DF-A1A2-006E90011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471CA3-A903-8BCC-1603-8BF72320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5DF9D3-0596-6252-495E-354B8A89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EBEBA-33B9-9A5D-E2A2-D58FB463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691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9555-DD00-13C9-023C-FA83DD16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2CE7E-D54A-2A31-E19A-151A348C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F8D2F-B962-24B2-80DA-81D71115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E8837-98BE-6DC8-E45E-D579CB74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34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B7580-80EC-362F-A265-E96F06BE0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25340-E930-F301-D884-68FA9888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24F02-971A-0324-8692-104E46E6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486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D8A1-5BC4-97D4-97F0-A58A3BE7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D4A48-26DD-5BB1-57B8-5D393189D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59ECC-F980-CB41-5CB6-4FEA84565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AEED7-849C-0109-A9CF-62647750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DBE29-87AA-9C96-53F0-A63A8D4A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8F58E-E409-D4F8-18FF-04115D4D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026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9F63-CE70-7F51-8E3E-FB395F5B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1F739-29F4-A34B-A7F8-94D33966B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89CAA-1A40-F68E-B3FA-D060BBA4C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1F2D9-8BE7-E092-43C2-440DC13C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8CE15-47F6-7E7D-D146-D3DA5ECD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9A34F-DE7C-E9E4-2B96-F9D85461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1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49A5-A453-6B28-EB7A-48B042A3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29DD6-B086-B867-74B7-4CC2FDCD4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1326D-D50F-8C2F-F4C0-400632E6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087D5-6955-D3B8-280D-9C11C737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E56DA-8BDE-C610-086D-ACF7714A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303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665B3-6371-16AC-DC3F-0C775856D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18355-EBD5-4543-3C21-E243C4C73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7A547-1C26-094C-CBE4-DB60B76B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50532-B13D-7850-E5A5-1F2D2B0C3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92B0E-D1A0-7496-FA66-6AA32736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92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EC585A-EFCD-4EBC-8E94-0F5DCBB0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30A61-791E-C4B8-8494-661CA8096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02CAD-8DBF-DEEA-8C79-52547684E7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48374-0C08-4B9A-B7D9-E2D11E06DF1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02294-72C4-FCB7-6CC8-271E9EAD5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8E32-6C65-E378-01F7-FCC8F0B0D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D79F3-D8A4-4B75-9636-42432909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28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vikramnayak-com/lean-b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vikramnayak85" TargetMode="External"/><Relationship Id="rId2" Type="http://schemas.openxmlformats.org/officeDocument/2006/relationships/hyperlink" Target="mailto:vikram@chartboss.ai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DE21-561C-617D-6573-3B1B6D5FA3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Live Wireframing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77256-84A4-9FCF-4198-85894F86A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Lean BI using AI</a:t>
            </a:r>
          </a:p>
          <a:p>
            <a:endParaRPr lang="en-IN" dirty="0"/>
          </a:p>
          <a:p>
            <a:r>
              <a:rPr lang="en-US" dirty="0">
                <a:hlinkClick r:id="rId2"/>
              </a:rPr>
              <a:t>https://github.com/vikramnayak-com/lean-bi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661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F461-C407-ADDA-7541-3AAC93CC1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12AD-7F15-F1F2-FFE6-6EE5F812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8C5D3-540D-BF03-4333-4AE8D2DF8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Exploring some “vexing” BI problems</a:t>
            </a:r>
          </a:p>
          <a:p>
            <a:r>
              <a:rPr lang="en-US" dirty="0"/>
              <a:t>How Lean principles help improve BI outcomes</a:t>
            </a:r>
          </a:p>
          <a:p>
            <a:r>
              <a:rPr lang="en-US" dirty="0"/>
              <a:t>Wireframing as part of Lean BI </a:t>
            </a:r>
          </a:p>
          <a:p>
            <a:r>
              <a:rPr lang="en-US" dirty="0"/>
              <a:t>The Lean BI System</a:t>
            </a:r>
          </a:p>
          <a:p>
            <a:r>
              <a:rPr lang="en-US" dirty="0"/>
              <a:t>BYOBI (Build Your Own BI) – Hands-on</a:t>
            </a:r>
          </a:p>
          <a:p>
            <a:r>
              <a:rPr lang="en-US" dirty="0"/>
              <a:t>More examples</a:t>
            </a:r>
          </a:p>
          <a:p>
            <a:endParaRPr lang="en-US" dirty="0"/>
          </a:p>
          <a:p>
            <a:endParaRPr lang="en-US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1548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EC73F-42DA-3546-AD17-D71C8D7B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CA4D-7007-4336-B062-8EE8E1C1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“Vexing” BI issue #1: Adoption is 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941EA-D7C0-DF95-9946-C5ED7D532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“Doesn't solve my problem” </a:t>
            </a:r>
            <a:r>
              <a:rPr lang="en-US" i="1" dirty="0"/>
              <a:t>not useful</a:t>
            </a:r>
          </a:p>
          <a:p>
            <a:r>
              <a:rPr lang="en-US" dirty="0"/>
              <a:t>“Too difficult to find/use, doesn't fit into my workflow” </a:t>
            </a:r>
            <a:r>
              <a:rPr lang="en-US" i="1" dirty="0"/>
              <a:t>not usable</a:t>
            </a:r>
          </a:p>
          <a:p>
            <a:r>
              <a:rPr lang="en-US" dirty="0"/>
              <a:t>“Can't make sense out of it” </a:t>
            </a:r>
            <a:r>
              <a:rPr lang="en-US" i="1" dirty="0"/>
              <a:t>not understandable</a:t>
            </a:r>
          </a:p>
          <a:p>
            <a:r>
              <a:rPr lang="en-US" dirty="0"/>
              <a:t>“I don't trust the numbers” </a:t>
            </a:r>
            <a:r>
              <a:rPr lang="en-US" i="1" dirty="0"/>
              <a:t>trust</a:t>
            </a:r>
          </a:p>
          <a:p>
            <a:r>
              <a:rPr lang="en-US" dirty="0"/>
              <a:t>“It's no longer relevant” </a:t>
            </a:r>
            <a:r>
              <a:rPr lang="en-US" i="1" dirty="0"/>
              <a:t>relevance</a:t>
            </a:r>
          </a:p>
        </p:txBody>
      </p:sp>
    </p:spTree>
    <p:extLst>
      <p:ext uri="{BB962C8B-B14F-4D97-AF65-F5344CB8AC3E}">
        <p14:creationId xmlns:p14="http://schemas.microsoft.com/office/powerpoint/2010/main" val="420884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DC02-9524-52AF-E2A9-29EA517B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F6F5-BCE7-7A3F-9B28-A29D03AE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“Vexing” BI issue #2: It’s too much effort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D56AD-BA61-97B8-404B-A3FBD6F59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Lots of ad-hoc work</a:t>
            </a:r>
          </a:p>
          <a:p>
            <a:r>
              <a:rPr lang="en-US" dirty="0"/>
              <a:t>Lots of manual work</a:t>
            </a:r>
          </a:p>
          <a:p>
            <a:r>
              <a:rPr lang="en-US" dirty="0"/>
              <a:t>Lots of rework</a:t>
            </a:r>
          </a:p>
          <a:p>
            <a:r>
              <a:rPr lang="en-US" dirty="0"/>
              <a:t>More workarounds than intentional solutions</a:t>
            </a:r>
          </a:p>
        </p:txBody>
      </p:sp>
    </p:spTree>
    <p:extLst>
      <p:ext uri="{BB962C8B-B14F-4D97-AF65-F5344CB8AC3E}">
        <p14:creationId xmlns:p14="http://schemas.microsoft.com/office/powerpoint/2010/main" val="390271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48EB-70E8-3828-B1EB-4BEE49CB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72BC2-901D-43E9-54FB-F6A492486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“Vexing” BI issue #3: Hard to quantify ROI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4E60D-AE6B-1934-D172-052C49338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Measurement and attribution is hard</a:t>
            </a:r>
          </a:p>
          <a:p>
            <a:r>
              <a:rPr lang="en-US" dirty="0"/>
              <a:t>“What would have happened without it?”. Can’t be certain </a:t>
            </a:r>
          </a:p>
          <a:p>
            <a:endParaRPr lang="en-US" dirty="0"/>
          </a:p>
          <a:p>
            <a:r>
              <a:rPr lang="en-US" dirty="0"/>
              <a:t>But we can increase ROI </a:t>
            </a:r>
            <a:r>
              <a:rPr lang="en-US" i="1" dirty="0"/>
              <a:t>without needing to measure it</a:t>
            </a:r>
          </a:p>
          <a:p>
            <a:r>
              <a:rPr lang="en-US" dirty="0"/>
              <a:t>We know parts of the numerator and denominator</a:t>
            </a:r>
          </a:p>
          <a:p>
            <a:r>
              <a:rPr lang="en-US" dirty="0"/>
              <a:t>Increase adoption and value delivered</a:t>
            </a:r>
          </a:p>
          <a:p>
            <a:r>
              <a:rPr lang="en-US" dirty="0"/>
              <a:t>Decrease effort and cost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52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DCA2-F757-F867-15F6-7675113DA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F89CA-0F78-D443-C6D9-CE921B8C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 Iceberg</a:t>
            </a:r>
          </a:p>
        </p:txBody>
      </p:sp>
      <p:pic>
        <p:nvPicPr>
          <p:cNvPr id="1026" name="Picture 2" descr="9+ Hundred Iceberg Below Water Royalty-Free Images, Stock Photos &amp; Pictures  | Shutterstock">
            <a:extLst>
              <a:ext uri="{FF2B5EF4-FFF2-40B4-BE49-F238E27FC236}">
                <a16:creationId xmlns:a16="http://schemas.microsoft.com/office/drawing/2014/main" id="{0F55E574-883B-4ECF-E235-C9B3C4AED2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1" r="24110" b="10759"/>
          <a:stretch>
            <a:fillRect/>
          </a:stretch>
        </p:blipFill>
        <p:spPr bwMode="auto">
          <a:xfrm>
            <a:off x="1165860" y="1825625"/>
            <a:ext cx="2880662" cy="454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664EF3-52EC-6AF0-A46D-6803E63E8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6280" y="1825626"/>
            <a:ext cx="6827519" cy="5175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What's easy to see / focus 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CE7EF0-C862-58A2-54AE-220D78410537}"/>
              </a:ext>
            </a:extLst>
          </p:cNvPr>
          <p:cNvCxnSpPr/>
          <p:nvPr/>
        </p:nvCxnSpPr>
        <p:spPr>
          <a:xfrm>
            <a:off x="936978" y="3429000"/>
            <a:ext cx="1041682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74BD6F3-AB46-42E9-B27D-995A40520A26}"/>
              </a:ext>
            </a:extLst>
          </p:cNvPr>
          <p:cNvSpPr txBox="1">
            <a:spLocks/>
          </p:cNvSpPr>
          <p:nvPr/>
        </p:nvSpPr>
        <p:spPr>
          <a:xfrm>
            <a:off x="4731720" y="2432403"/>
            <a:ext cx="6827519" cy="99659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lvl="1" indent="0">
              <a:buNone/>
            </a:pPr>
            <a:r>
              <a:rPr lang="en-US" b="1" dirty="0"/>
              <a:t>Technology</a:t>
            </a:r>
          </a:p>
          <a:p>
            <a:pPr marL="92075" lvl="1" indent="0">
              <a:buNone/>
            </a:pPr>
            <a:r>
              <a:rPr lang="en-US" dirty="0"/>
              <a:t>Data sources, SQL, Dimensional models, Pipelines, DBT, Kafka, Big data, Warehouse, Lakehouse, Power BI/Tableau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B83672F-41EA-1AD9-4A1A-FB2A0648CABF}"/>
              </a:ext>
            </a:extLst>
          </p:cNvPr>
          <p:cNvSpPr txBox="1">
            <a:spLocks/>
          </p:cNvSpPr>
          <p:nvPr/>
        </p:nvSpPr>
        <p:spPr>
          <a:xfrm>
            <a:off x="4526280" y="3580307"/>
            <a:ext cx="6827519" cy="5175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What’s also needed but often ignored</a:t>
            </a:r>
            <a:r>
              <a:rPr lang="en-US" sz="3200" dirty="0"/>
              <a:t> 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50CD00E-4A2F-42D9-9662-78DA486E91D1}"/>
              </a:ext>
            </a:extLst>
          </p:cNvPr>
          <p:cNvSpPr txBox="1">
            <a:spLocks/>
          </p:cNvSpPr>
          <p:nvPr/>
        </p:nvSpPr>
        <p:spPr>
          <a:xfrm>
            <a:off x="4731719" y="4249137"/>
            <a:ext cx="6827519" cy="9965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lvl="1" indent="0">
              <a:buNone/>
            </a:pPr>
            <a:r>
              <a:rPr lang="en-US" b="1" dirty="0"/>
              <a:t>People</a:t>
            </a:r>
          </a:p>
          <a:p>
            <a:pPr marL="92075" lvl="1" indent="0">
              <a:buNone/>
            </a:pPr>
            <a:r>
              <a:rPr lang="en-US" sz="2200" dirty="0"/>
              <a:t>Priorities, Biases, Insecurities, Communication, Personal ambitions, Resistance to change, Trust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41907471-F812-22EE-06B9-AF134A0433FE}"/>
              </a:ext>
            </a:extLst>
          </p:cNvPr>
          <p:cNvSpPr txBox="1">
            <a:spLocks/>
          </p:cNvSpPr>
          <p:nvPr/>
        </p:nvSpPr>
        <p:spPr>
          <a:xfrm>
            <a:off x="4731718" y="5245734"/>
            <a:ext cx="6827519" cy="9965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lvl="1" indent="0">
              <a:buNone/>
            </a:pPr>
            <a:r>
              <a:rPr lang="en-US" b="1" dirty="0"/>
              <a:t>Process</a:t>
            </a:r>
          </a:p>
          <a:p>
            <a:pPr marL="92075" lvl="1" indent="0">
              <a:buNone/>
            </a:pPr>
            <a:r>
              <a:rPr lang="en-US" sz="2200" dirty="0"/>
              <a:t>Systems, Culture, Change management, Buy-in, Journey vs End-state, As-is vs To-be</a:t>
            </a:r>
          </a:p>
        </p:txBody>
      </p:sp>
    </p:spTree>
    <p:extLst>
      <p:ext uri="{BB962C8B-B14F-4D97-AF65-F5344CB8AC3E}">
        <p14:creationId xmlns:p14="http://schemas.microsoft.com/office/powerpoint/2010/main" val="4139802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519C1-DE3F-8BBC-D7B5-7CC08A3E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9705-FC91-557E-BC71-625166CC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BI operating in a vacuum?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4CFA-6B1D-43C4-5896-4B7C046AA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What are we incorporating from other disciplines? </a:t>
            </a:r>
            <a:br>
              <a:rPr lang="en-IN" dirty="0"/>
            </a:br>
            <a:endParaRPr lang="en-IN" dirty="0"/>
          </a:p>
          <a:p>
            <a:pPr lvl="1"/>
            <a:r>
              <a:rPr lang="en-IN" dirty="0"/>
              <a:t>Product thinking? </a:t>
            </a:r>
            <a:r>
              <a:rPr lang="en-IN" sz="1800" dirty="0"/>
              <a:t>(discovery, motivations, owning outcomes, iteration, “living” outputs)</a:t>
            </a:r>
            <a:endParaRPr lang="en-IN" dirty="0"/>
          </a:p>
          <a:p>
            <a:pPr lvl="1"/>
            <a:r>
              <a:rPr lang="en-IN" dirty="0"/>
              <a:t>Lean? </a:t>
            </a:r>
            <a:r>
              <a:rPr lang="en-IN" sz="1800" dirty="0"/>
              <a:t>(validation, replay)</a:t>
            </a:r>
            <a:endParaRPr lang="en-IN" dirty="0"/>
          </a:p>
          <a:p>
            <a:pPr lvl="1"/>
            <a:r>
              <a:rPr lang="en-IN" dirty="0"/>
              <a:t>UX? </a:t>
            </a:r>
            <a:r>
              <a:rPr lang="en-IN" sz="1800" dirty="0"/>
              <a:t>(user research, empathy, design, usability, experience)</a:t>
            </a:r>
            <a:endParaRPr lang="en-IN" dirty="0"/>
          </a:p>
          <a:p>
            <a:pPr lvl="1"/>
            <a:r>
              <a:rPr lang="en-IN" dirty="0"/>
              <a:t>Change management? </a:t>
            </a:r>
            <a:r>
              <a:rPr lang="en-IN" sz="1800" dirty="0"/>
              <a:t>(psychology, behavioural science, culture)</a:t>
            </a:r>
            <a:endParaRPr lang="en-IN" dirty="0"/>
          </a:p>
          <a:p>
            <a:pPr lvl="1"/>
            <a:r>
              <a:rPr lang="en-IN" dirty="0"/>
              <a:t>GTM? </a:t>
            </a:r>
            <a:r>
              <a:rPr lang="en-IN" sz="1800" dirty="0"/>
              <a:t>(Launch, communication plan)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Customer Success </a:t>
            </a:r>
            <a:r>
              <a:rPr lang="en-IN" sz="1800" dirty="0"/>
              <a:t>(usage monitoring, feedback, training, troubleshooting, problem solving)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824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0593-2920-7426-9423-F819EA09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0D00-E466-3B13-5450-E908D6B1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helps!</a:t>
            </a:r>
            <a:endParaRPr lang="en-US" b="0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CB71-AB81-B0F0-D0C3-C138EFCBB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b="1" dirty="0"/>
              <a:t>Lean</a:t>
            </a:r>
            <a:r>
              <a:rPr lang="en-US" dirty="0"/>
              <a:t>: "How can we get to a successful outcome while minimizing waste?“</a:t>
            </a:r>
            <a:br>
              <a:rPr lang="en-US" dirty="0"/>
            </a:br>
            <a:endParaRPr lang="en-US" b="0" dirty="0">
              <a:effectLst/>
            </a:endParaRPr>
          </a:p>
          <a:p>
            <a:r>
              <a:rPr lang="en-US" dirty="0"/>
              <a:t>Ways to achieve this:</a:t>
            </a:r>
            <a:endParaRPr lang="en-US" b="0" dirty="0">
              <a:effectLst/>
            </a:endParaRPr>
          </a:p>
          <a:p>
            <a:pPr lvl="1"/>
            <a:r>
              <a:rPr lang="en-US" dirty="0"/>
              <a:t>Good inputs </a:t>
            </a:r>
            <a:r>
              <a:rPr lang="en-US" sz="2100" dirty="0"/>
              <a:t>(Discovery, requirements and research)</a:t>
            </a:r>
            <a:endParaRPr lang="en-US" b="0" dirty="0">
              <a:effectLst/>
            </a:endParaRPr>
          </a:p>
          <a:p>
            <a:pPr lvl="1"/>
            <a:r>
              <a:rPr lang="en-US" dirty="0"/>
              <a:t>Good frameworks </a:t>
            </a:r>
            <a:r>
              <a:rPr lang="en-US" sz="1900" dirty="0"/>
              <a:t>(Mental models and systems thinking)</a:t>
            </a:r>
            <a:endParaRPr lang="en-US" b="0" dirty="0">
              <a:effectLst/>
            </a:endParaRPr>
          </a:p>
          <a:p>
            <a:pPr lvl="1"/>
            <a:r>
              <a:rPr lang="en-US" dirty="0"/>
              <a:t>Good outputs </a:t>
            </a:r>
            <a:r>
              <a:rPr lang="en-US" sz="1900" dirty="0"/>
              <a:t>(Structure, representation, interaction)</a:t>
            </a:r>
            <a:endParaRPr lang="en-US" b="0" dirty="0">
              <a:effectLst/>
            </a:endParaRPr>
          </a:p>
          <a:p>
            <a:pPr lvl="1"/>
            <a:r>
              <a:rPr lang="en-US" dirty="0"/>
              <a:t>Good practices </a:t>
            </a:r>
            <a:r>
              <a:rPr lang="en-US" sz="1800" dirty="0"/>
              <a:t>(Validation with req replay + wireframes, AI as a new capability + accelerator)</a:t>
            </a:r>
            <a:r>
              <a:rPr lang="en-US" dirty="0"/>
              <a:t> 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5779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F146A-0619-D4B5-BBD8-1B34D3615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6D9D-2F51-24EE-910C-C7EA2EDE3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wireframing fit in with Lean BI?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FBDC-31E9-8748-1050-6D57D9F3E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Shows a mirror both upstream and downstream</a:t>
            </a:r>
          </a:p>
          <a:p>
            <a:pPr lvl="1"/>
            <a:r>
              <a:rPr lang="en-US" sz="2000" dirty="0"/>
              <a:t>Creates a traceable chain: interview -&gt; requirements -&gt; spec -&gt; wireframe -&gt; dashboard + data model</a:t>
            </a:r>
          </a:p>
          <a:p>
            <a:pPr lvl="1"/>
            <a:r>
              <a:rPr lang="en-US" sz="2000" dirty="0"/>
              <a:t>Shows the weak links in the chain</a:t>
            </a:r>
          </a:p>
          <a:p>
            <a:endParaRPr lang="en-US" dirty="0"/>
          </a:p>
          <a:p>
            <a:r>
              <a:rPr lang="en-US" dirty="0"/>
              <a:t>Creates the engagement and involvement that drives success. Stakeholders and users:</a:t>
            </a:r>
          </a:p>
          <a:p>
            <a:pPr lvl="2"/>
            <a:r>
              <a:rPr lang="en-US" dirty="0"/>
              <a:t>Are involved throughout the process</a:t>
            </a:r>
          </a:p>
          <a:p>
            <a:pPr lvl="2"/>
            <a:r>
              <a:rPr lang="en-US" dirty="0"/>
              <a:t>See progress</a:t>
            </a:r>
          </a:p>
          <a:p>
            <a:pPr lvl="2"/>
            <a:r>
              <a:rPr lang="en-US" dirty="0"/>
              <a:t>Feel like co-owners</a:t>
            </a:r>
          </a:p>
          <a:p>
            <a:pPr lvl="2"/>
            <a:r>
              <a:rPr lang="en-US" dirty="0"/>
              <a:t>Are invested</a:t>
            </a:r>
          </a:p>
        </p:txBody>
      </p:sp>
    </p:spTree>
    <p:extLst>
      <p:ext uri="{BB962C8B-B14F-4D97-AF65-F5344CB8AC3E}">
        <p14:creationId xmlns:p14="http://schemas.microsoft.com/office/powerpoint/2010/main" val="82273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6F15-0F4E-3C8C-284B-BC30FEDF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6B184-89DF-2BAE-F107-674676C6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 is a wireframe?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C00E1-072B-40A3-EEEB-F32651D1C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It's a visual representation of each screen with its individual components, sections, elements </a:t>
            </a:r>
            <a:br>
              <a:rPr lang="en-US" dirty="0"/>
            </a:br>
            <a:endParaRPr lang="en-US" dirty="0"/>
          </a:p>
          <a:p>
            <a:r>
              <a:rPr lang="en-US" dirty="0"/>
              <a:t>Levels: sketch, wireframe, prototype</a:t>
            </a:r>
            <a:br>
              <a:rPr lang="en-US" dirty="0"/>
            </a:br>
            <a:r>
              <a:rPr lang="en-US" dirty="0"/>
              <a:t>	</a:t>
            </a:r>
          </a:p>
          <a:p>
            <a:r>
              <a:rPr lang="en-US" dirty="0"/>
              <a:t>Level up: </a:t>
            </a:r>
          </a:p>
          <a:p>
            <a:pPr lvl="1"/>
            <a:r>
              <a:rPr lang="en-US" dirty="0"/>
              <a:t>wire flow (connected screens)</a:t>
            </a:r>
          </a:p>
          <a:p>
            <a:pPr lvl="1"/>
            <a:r>
              <a:rPr lang="en-US" dirty="0"/>
              <a:t>storyboard (one user journey through </a:t>
            </a:r>
            <a:br>
              <a:rPr lang="en-US" dirty="0"/>
            </a:br>
            <a:r>
              <a:rPr lang="en-US" dirty="0"/>
              <a:t>the dashboard)</a:t>
            </a:r>
          </a:p>
        </p:txBody>
      </p:sp>
      <p:pic>
        <p:nvPicPr>
          <p:cNvPr id="2050" name="Picture 2" descr="How to Make the Best Mock Dashboard Wireframe for Your ...">
            <a:extLst>
              <a:ext uri="{FF2B5EF4-FFF2-40B4-BE49-F238E27FC236}">
                <a16:creationId xmlns:a16="http://schemas.microsoft.com/office/drawing/2014/main" id="{8A9EB0ED-6D51-E815-B160-A083019407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3" r="32969"/>
          <a:stretch>
            <a:fillRect/>
          </a:stretch>
        </p:blipFill>
        <p:spPr bwMode="auto">
          <a:xfrm>
            <a:off x="7338060" y="2404953"/>
            <a:ext cx="4354830" cy="4087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98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EBA07-2C88-C27C-6007-188D7838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9401-9AD8-026E-C472-B404F1A9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"Lean BI” process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129F0-8765-F2C6-25F4-7E20A7222B8F}"/>
              </a:ext>
            </a:extLst>
          </p:cNvPr>
          <p:cNvSpPr/>
          <p:nvPr/>
        </p:nvSpPr>
        <p:spPr>
          <a:xfrm>
            <a:off x="1609515" y="217223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1. Discovery Interviews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D5A474-8289-59B9-A403-F528FEA6A542}"/>
              </a:ext>
            </a:extLst>
          </p:cNvPr>
          <p:cNvSpPr/>
          <p:nvPr/>
        </p:nvSpPr>
        <p:spPr>
          <a:xfrm>
            <a:off x="4607985" y="217223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2. Dashboard Requirements Document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5A4EE8-5A50-15DC-308E-19CB998BF36E}"/>
              </a:ext>
            </a:extLst>
          </p:cNvPr>
          <p:cNvSpPr/>
          <p:nvPr/>
        </p:nvSpPr>
        <p:spPr>
          <a:xfrm>
            <a:off x="7606455" y="217223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3. Dashboard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“Spec”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1C80B1-841B-E7A9-E873-8E93C4679EF2}"/>
              </a:ext>
            </a:extLst>
          </p:cNvPr>
          <p:cNvSpPr/>
          <p:nvPr/>
        </p:nvSpPr>
        <p:spPr>
          <a:xfrm>
            <a:off x="7606455" y="370766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4. Choose Component Representations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F88ECB-11B2-657D-CEA6-828C68CEFA30}"/>
              </a:ext>
            </a:extLst>
          </p:cNvPr>
          <p:cNvSpPr/>
          <p:nvPr/>
        </p:nvSpPr>
        <p:spPr>
          <a:xfrm>
            <a:off x="4607985" y="370766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5. Generate Tab Layouts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12FF9B-5243-6A85-EABF-99BD0A9D943D}"/>
              </a:ext>
            </a:extLst>
          </p:cNvPr>
          <p:cNvSpPr/>
          <p:nvPr/>
        </p:nvSpPr>
        <p:spPr>
          <a:xfrm>
            <a:off x="1609515" y="370766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6. Generate wireframe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E90362-095D-B9C8-4B92-2819BC374CA1}"/>
              </a:ext>
            </a:extLst>
          </p:cNvPr>
          <p:cNvSpPr/>
          <p:nvPr/>
        </p:nvSpPr>
        <p:spPr>
          <a:xfrm>
            <a:off x="1609515" y="524309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7. Prioritization and Scoring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207EEB-8CA1-6C5E-603C-5379AD754F5F}"/>
              </a:ext>
            </a:extLst>
          </p:cNvPr>
          <p:cNvSpPr/>
          <p:nvPr/>
        </p:nvSpPr>
        <p:spPr>
          <a:xfrm>
            <a:off x="4607985" y="524309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8. Feedback and Iteration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86BA9-253D-9D44-16AA-9CDE777EBCDA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3806191" y="259487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B80F3C-D1C6-A8C0-CD63-35EFEF05D9B1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6804661" y="259487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A4D8EE5-C752-78DF-C9BB-E70E4DF54667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704793" y="3017521"/>
            <a:ext cx="0" cy="69014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B7540B-7418-FDEB-8257-A9A593A7C1DC}"/>
              </a:ext>
            </a:extLst>
          </p:cNvPr>
          <p:cNvCxnSpPr>
            <a:cxnSpLocks/>
            <a:stCxn id="15" idx="1"/>
            <a:endCxn id="16" idx="3"/>
          </p:cNvCxnSpPr>
          <p:nvPr/>
        </p:nvCxnSpPr>
        <p:spPr>
          <a:xfrm flipH="1">
            <a:off x="6804661" y="413030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119D195-C3A6-CD80-2954-88A6555D17E1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flipH="1">
            <a:off x="3806191" y="413030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849BC62-2093-4E67-0384-7980B19A47F2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2707853" y="4552951"/>
            <a:ext cx="0" cy="69014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89F032B-11ED-8EA8-7BF2-8B613F5B651D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3806191" y="566573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693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D272-D9A5-7A5F-24E6-EE06F618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EB66-7B5B-99A5-D065-98516FC9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DFDA-FF1C-943D-F427-B736E4553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 sets of interviews or 2 angles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Stakeholders</a:t>
            </a:r>
          </a:p>
          <a:p>
            <a:pPr lvl="2"/>
            <a:r>
              <a:rPr lang="en-US" dirty="0"/>
              <a:t>Goals for the project</a:t>
            </a:r>
          </a:p>
          <a:p>
            <a:pPr lvl="2"/>
            <a:r>
              <a:rPr lang="en-US" dirty="0"/>
              <a:t>Decisions and actions enabled</a:t>
            </a:r>
          </a:p>
          <a:p>
            <a:pPr lvl="2"/>
            <a:r>
              <a:rPr lang="en-US" dirty="0"/>
              <a:t>Success criteria and business outcomes</a:t>
            </a:r>
          </a:p>
          <a:p>
            <a:pPr lvl="2"/>
            <a:r>
              <a:rPr lang="en-US" dirty="0"/>
              <a:t>How that overall area of the business works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Users</a:t>
            </a:r>
          </a:p>
          <a:p>
            <a:pPr lvl="2"/>
            <a:r>
              <a:rPr lang="en-US" dirty="0"/>
              <a:t>Data questions, metrics, analyses which are needed</a:t>
            </a:r>
          </a:p>
          <a:p>
            <a:pPr lvl="2"/>
            <a:r>
              <a:rPr lang="en-US" dirty="0"/>
              <a:t>Decisions and actions that will be enabled</a:t>
            </a:r>
          </a:p>
          <a:p>
            <a:pPr lvl="2"/>
            <a:r>
              <a:rPr lang="en-US" dirty="0"/>
              <a:t>Elements to be highlighted</a:t>
            </a:r>
          </a:p>
          <a:p>
            <a:pPr lvl="2"/>
            <a:r>
              <a:rPr lang="en-US" dirty="0"/>
              <a:t>Priority levels and representations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45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70623-6EC1-59DE-249D-1431261A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7081-6B52-76DD-F8A1-3820AD03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Discovery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1756C-96A8-5650-0A12-0255F4A87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With AI</a:t>
            </a:r>
          </a:p>
          <a:p>
            <a:pPr lvl="1"/>
            <a:r>
              <a:rPr lang="en-US" dirty="0"/>
              <a:t>Interviews with one or more stakeholders and users</a:t>
            </a:r>
          </a:p>
          <a:p>
            <a:pPr lvl="1"/>
            <a:r>
              <a:rPr lang="en-US" dirty="0"/>
              <a:t>Use starting interview guide</a:t>
            </a:r>
          </a:p>
          <a:p>
            <a:pPr lvl="1"/>
            <a:r>
              <a:rPr lang="en-US" dirty="0"/>
              <a:t>Ask questions in order</a:t>
            </a:r>
          </a:p>
          <a:p>
            <a:pPr lvl="1"/>
            <a:r>
              <a:rPr lang="en-US" dirty="0"/>
              <a:t>Record and transcribe the interview</a:t>
            </a:r>
          </a:p>
          <a:p>
            <a:pPr lvl="1"/>
            <a:r>
              <a:rPr lang="en-US" dirty="0"/>
              <a:t>Paste interview notes into Evaluator for completeness and clarity’</a:t>
            </a:r>
          </a:p>
          <a:p>
            <a:pPr lvl="1"/>
            <a:r>
              <a:rPr lang="en-US" dirty="0"/>
              <a:t>If complete, collate all the questions and answers</a:t>
            </a:r>
          </a:p>
          <a:p>
            <a:pPr lvl="1"/>
            <a:r>
              <a:rPr lang="en-US" dirty="0"/>
              <a:t>If incomplete, generate follow up questions for each persona and repeat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Extension points:</a:t>
            </a:r>
          </a:p>
          <a:p>
            <a:pPr lvl="1"/>
            <a:r>
              <a:rPr lang="en-US" dirty="0"/>
              <a:t>More inputs like existing reports and user notes, for LLM to synthesize</a:t>
            </a:r>
          </a:p>
        </p:txBody>
      </p:sp>
    </p:spTree>
    <p:extLst>
      <p:ext uri="{BB962C8B-B14F-4D97-AF65-F5344CB8AC3E}">
        <p14:creationId xmlns:p14="http://schemas.microsoft.com/office/powerpoint/2010/main" val="1851543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724AD-120B-5BAB-CD64-7472ABE8F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0C32-F2B4-1957-402A-1A78591E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Dashboard Requirements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E52F1-430E-82C6-927D-DB5575887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Business requirements and goals</a:t>
            </a:r>
          </a:p>
          <a:p>
            <a:r>
              <a:rPr lang="en-US" dirty="0"/>
              <a:t>Project success criteria</a:t>
            </a:r>
          </a:p>
          <a:p>
            <a:r>
              <a:rPr lang="en-US" dirty="0"/>
              <a:t>Users, Goals</a:t>
            </a:r>
          </a:p>
          <a:p>
            <a:r>
              <a:rPr lang="en-US" dirty="0"/>
              <a:t>Business questions</a:t>
            </a:r>
          </a:p>
          <a:p>
            <a:r>
              <a:rPr lang="en-US" dirty="0"/>
              <a:t>Data sources </a:t>
            </a:r>
          </a:p>
          <a:p>
            <a:r>
              <a:rPr lang="en-US" dirty="0"/>
              <a:t>Metric definitions</a:t>
            </a:r>
          </a:p>
          <a:p>
            <a:r>
              <a:rPr lang="en-US" dirty="0"/>
              <a:t>Components</a:t>
            </a:r>
          </a:p>
          <a:p>
            <a:r>
              <a:rPr lang="en-US" dirty="0"/>
              <a:t>	Data questions</a:t>
            </a:r>
          </a:p>
          <a:p>
            <a:r>
              <a:rPr lang="en-US" dirty="0"/>
              <a:t>	Interpretation and use</a:t>
            </a:r>
          </a:p>
          <a:p>
            <a:r>
              <a:rPr lang="en-US" dirty="0"/>
              <a:t>	Decision/action supported</a:t>
            </a:r>
          </a:p>
          <a:p>
            <a:r>
              <a:rPr lang="en-US" dirty="0"/>
              <a:t>	Key criteria and levels</a:t>
            </a:r>
          </a:p>
          <a:p>
            <a:r>
              <a:rPr lang="en-US" dirty="0"/>
              <a:t>	Behavior</a:t>
            </a:r>
          </a:p>
          <a:p>
            <a:r>
              <a:rPr lang="en-US" dirty="0"/>
              <a:t>	Priority Level</a:t>
            </a:r>
          </a:p>
          <a:p>
            <a:r>
              <a:rPr lang="en-US" dirty="0"/>
              <a:t>Filters</a:t>
            </a:r>
          </a:p>
          <a:p>
            <a:r>
              <a:rPr lang="en-US" dirty="0"/>
              <a:t>Existing reports and processes</a:t>
            </a:r>
          </a:p>
        </p:txBody>
      </p:sp>
    </p:spTree>
    <p:extLst>
      <p:ext uri="{BB962C8B-B14F-4D97-AF65-F5344CB8AC3E}">
        <p14:creationId xmlns:p14="http://schemas.microsoft.com/office/powerpoint/2010/main" val="4245954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0654F-446E-0D33-09D9-9C0DE3D8D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0F75-613D-F470-243F-58AED981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Dashboard Requirements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3188E-ACED-3E58-8B98-7E1D00C1F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With AI</a:t>
            </a:r>
          </a:p>
          <a:p>
            <a:pPr lvl="1"/>
            <a:r>
              <a:rPr lang="en-US" dirty="0"/>
              <a:t>Summarize the interview notes</a:t>
            </a:r>
          </a:p>
          <a:p>
            <a:pPr lvl="1"/>
            <a:r>
              <a:rPr lang="en-US" dirty="0"/>
              <a:t>Extract details for each section of DRD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Extension Points:</a:t>
            </a:r>
          </a:p>
          <a:p>
            <a:pPr lvl="1"/>
            <a:r>
              <a:rPr lang="en-US" dirty="0"/>
              <a:t>Splitting monolith into design-specific DRD and dev-specific DRD</a:t>
            </a:r>
          </a:p>
          <a:p>
            <a:pPr lvl="1"/>
            <a:r>
              <a:rPr lang="en-US" dirty="0"/>
              <a:t>Provide references to source material</a:t>
            </a:r>
          </a:p>
        </p:txBody>
      </p:sp>
    </p:spTree>
    <p:extLst>
      <p:ext uri="{BB962C8B-B14F-4D97-AF65-F5344CB8AC3E}">
        <p14:creationId xmlns:p14="http://schemas.microsoft.com/office/powerpoint/2010/main" val="3954086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74D16-0430-8513-64C7-241D0026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BC6F-1F0B-A697-3AF1-0B1C2F66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Dashboard Spec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10710-4E7B-87BC-2260-8EF350BF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Construct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“Think of it like a bulleted indented list that specifies the WHAT of the dashboard”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Tabs</a:t>
            </a:r>
          </a:p>
          <a:p>
            <a:r>
              <a:rPr lang="en-US" dirty="0"/>
              <a:t>Components</a:t>
            </a:r>
          </a:p>
          <a:p>
            <a:r>
              <a:rPr lang="en-US" dirty="0"/>
              <a:t>ID (globally unique)</a:t>
            </a:r>
          </a:p>
          <a:p>
            <a:r>
              <a:rPr lang="en-US" dirty="0"/>
              <a:t>Precise data questions</a:t>
            </a:r>
          </a:p>
          <a:p>
            <a:r>
              <a:rPr lang="en-US" dirty="0"/>
              <a:t>Decision / action</a:t>
            </a:r>
          </a:p>
          <a:p>
            <a:r>
              <a:rPr lang="en-US" dirty="0"/>
              <a:t>Key criteria / conditions / levels</a:t>
            </a:r>
          </a:p>
          <a:p>
            <a:r>
              <a:rPr lang="en-US" dirty="0"/>
              <a:t>Behavior (hover, drill down, filter)</a:t>
            </a:r>
          </a:p>
          <a:p>
            <a:r>
              <a:rPr lang="en-US" dirty="0"/>
              <a:t>Priority Level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Filters</a:t>
            </a:r>
          </a:p>
          <a:p>
            <a:r>
              <a:rPr lang="en-US" dirty="0"/>
              <a:t>Fields</a:t>
            </a:r>
          </a:p>
          <a:p>
            <a:r>
              <a:rPr lang="en-US" dirty="0"/>
              <a:t>Type of filter (multi-select / drop-down / expression)</a:t>
            </a:r>
          </a:p>
          <a:p>
            <a:r>
              <a:rPr lang="en-US" dirty="0"/>
              <a:t>Condition (e.g., Last 12 months)</a:t>
            </a:r>
          </a:p>
        </p:txBody>
      </p:sp>
    </p:spTree>
    <p:extLst>
      <p:ext uri="{BB962C8B-B14F-4D97-AF65-F5344CB8AC3E}">
        <p14:creationId xmlns:p14="http://schemas.microsoft.com/office/powerpoint/2010/main" val="542432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1F7A4-4A83-CE1C-7658-302C1EEF1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2970-4CE8-CA26-67C8-2663A80F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Dashboard Spec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D8E67-9B37-B7F5-87FA-F293A0D4C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With AI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From DRD, extract all structural components</a:t>
            </a:r>
          </a:p>
          <a:p>
            <a:pPr lvl="1"/>
            <a:r>
              <a:rPr lang="en-US" dirty="0"/>
              <a:t>Arrange them like a bulleted, indented list</a:t>
            </a:r>
          </a:p>
          <a:p>
            <a:pPr lvl="1"/>
            <a:r>
              <a:rPr lang="en-US" dirty="0"/>
              <a:t>Tabs -&gt; components -&gt; details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Extension point:</a:t>
            </a:r>
          </a:p>
          <a:p>
            <a:pPr lvl="1"/>
            <a:r>
              <a:rPr lang="en-US" dirty="0"/>
              <a:t>Using structured inputs/output like JSON as the language of choice between components</a:t>
            </a:r>
          </a:p>
        </p:txBody>
      </p:sp>
    </p:spTree>
    <p:extLst>
      <p:ext uri="{BB962C8B-B14F-4D97-AF65-F5344CB8AC3E}">
        <p14:creationId xmlns:p14="http://schemas.microsoft.com/office/powerpoint/2010/main" val="245395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A0752-6370-FCE7-40E6-110F231D6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041D6-FA9A-431A-4DE3-CA6E59F1A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Representation Chooser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3E92-E8C8-854C-662D-04259369F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/>
              <a:t>Construct</a:t>
            </a:r>
            <a:r>
              <a:rPr lang="en-US" sz="1400" dirty="0"/>
              <a:t>:</a:t>
            </a:r>
          </a:p>
          <a:p>
            <a:r>
              <a:rPr lang="en-US" sz="1400" dirty="0"/>
              <a:t>“Given all the details of a component, what is the best representation for it?”. Also accounts for user preferences/requests</a:t>
            </a: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dirty="0"/>
              <a:t>Type of representation</a:t>
            </a:r>
          </a:p>
          <a:p>
            <a:r>
              <a:rPr lang="en-US" sz="1400" dirty="0"/>
              <a:t>Chart</a:t>
            </a:r>
          </a:p>
          <a:p>
            <a:r>
              <a:rPr lang="en-US" sz="1400" dirty="0"/>
              <a:t>Table</a:t>
            </a:r>
          </a:p>
          <a:p>
            <a:r>
              <a:rPr lang="en-US" sz="1400" dirty="0"/>
              <a:t>KPI</a:t>
            </a:r>
          </a:p>
          <a:p>
            <a:r>
              <a:rPr lang="en-US" sz="1400" dirty="0"/>
              <a:t>Map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Additional elements:</a:t>
            </a:r>
          </a:p>
          <a:p>
            <a:r>
              <a:rPr lang="en-US" sz="1400" dirty="0"/>
              <a:t>context elements </a:t>
            </a:r>
          </a:p>
          <a:p>
            <a:r>
              <a:rPr lang="en-US" sz="1400" dirty="0"/>
              <a:t>highlight / storytelling elements</a:t>
            </a:r>
          </a:p>
          <a:p>
            <a:r>
              <a:rPr lang="en-US" sz="1400" dirty="0"/>
              <a:t>design choices</a:t>
            </a: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dirty="0"/>
              <a:t>(Loop)</a:t>
            </a:r>
          </a:p>
          <a:p>
            <a:r>
              <a:rPr lang="en-US" sz="1400" dirty="0"/>
              <a:t>For each component, get a ranked list of options</a:t>
            </a:r>
          </a:p>
        </p:txBody>
      </p:sp>
    </p:spTree>
    <p:extLst>
      <p:ext uri="{BB962C8B-B14F-4D97-AF65-F5344CB8AC3E}">
        <p14:creationId xmlns:p14="http://schemas.microsoft.com/office/powerpoint/2010/main" val="1235703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93A1B-7616-7C5E-CCCF-DC2F662A6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A0E6-194B-40D6-07E4-78F94EE4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Representation Chooser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ADD4D-4B58-2E97-97F2-7A690235C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With AI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Use data question + user preferences (if any) + decision / action to …</a:t>
            </a:r>
          </a:p>
          <a:p>
            <a:pPr lvl="1"/>
            <a:r>
              <a:rPr lang="en-US" dirty="0"/>
              <a:t>Decide type of component (chart/table/KPI/map) </a:t>
            </a:r>
          </a:p>
          <a:p>
            <a:pPr lvl="1"/>
            <a:r>
              <a:rPr lang="en-US" dirty="0"/>
              <a:t>Decide subtype of component (line chart, heat map, </a:t>
            </a:r>
            <a:r>
              <a:rPr lang="en-US" dirty="0" err="1"/>
              <a:t>etc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Extension points:</a:t>
            </a:r>
          </a:p>
          <a:p>
            <a:pPr lvl="1"/>
            <a:r>
              <a:rPr lang="en-US" dirty="0"/>
              <a:t>More sophisticated chart/KPI/table chooser</a:t>
            </a:r>
          </a:p>
        </p:txBody>
      </p:sp>
    </p:spTree>
    <p:extLst>
      <p:ext uri="{BB962C8B-B14F-4D97-AF65-F5344CB8AC3E}">
        <p14:creationId xmlns:p14="http://schemas.microsoft.com/office/powerpoint/2010/main" val="775345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6CE55-8D22-5A9D-CD55-126488D6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3116-D277-7697-A07E-B92E3801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Layout Generator + Component Mapper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07A28-490F-490A-FC20-75837C37A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- Layout Variations:</a:t>
            </a:r>
          </a:p>
          <a:p>
            <a:pPr marL="0" indent="0">
              <a:buNone/>
            </a:pPr>
            <a:r>
              <a:rPr lang="en-US" dirty="0"/>
              <a:t>	- KPIs present? Top or left?</a:t>
            </a:r>
          </a:p>
          <a:p>
            <a:pPr marL="0" indent="0">
              <a:buNone/>
            </a:pPr>
            <a:r>
              <a:rPr lang="en-US" dirty="0"/>
              <a:t>	- Number of rows? </a:t>
            </a:r>
          </a:p>
          <a:p>
            <a:pPr marL="0" indent="0">
              <a:buNone/>
            </a:pPr>
            <a:r>
              <a:rPr lang="en-US" dirty="0"/>
              <a:t>	- Height of each row?</a:t>
            </a:r>
          </a:p>
          <a:p>
            <a:pPr marL="0" indent="0">
              <a:buNone/>
            </a:pPr>
            <a:r>
              <a:rPr lang="en-US" dirty="0"/>
              <a:t>	- Number of columns in each row?</a:t>
            </a:r>
          </a:p>
          <a:p>
            <a:pPr marL="0" indent="0">
              <a:buNone/>
            </a:pPr>
            <a:r>
              <a:rPr lang="en-US" dirty="0"/>
              <a:t>	- Size of each box? (small/big)</a:t>
            </a:r>
          </a:p>
          <a:p>
            <a:pPr marL="0" indent="0">
              <a:buNone/>
            </a:pPr>
            <a:r>
              <a:rPr lang="en-US" dirty="0"/>
              <a:t>	- Filter location? Top or left?</a:t>
            </a:r>
          </a:p>
          <a:p>
            <a:pPr marL="0" indent="0">
              <a:buNone/>
            </a:pPr>
            <a:r>
              <a:rPr lang="en-US" dirty="0"/>
              <a:t>	- Scrollable?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Largely Depends on:</a:t>
            </a:r>
          </a:p>
          <a:p>
            <a:pPr marL="0" indent="0">
              <a:buNone/>
            </a:pPr>
            <a:r>
              <a:rPr lang="en-US" dirty="0"/>
              <a:t>	- Dominant "Type" of dashboard</a:t>
            </a:r>
          </a:p>
          <a:p>
            <a:pPr marL="0" indent="0">
              <a:buNone/>
            </a:pPr>
            <a:r>
              <a:rPr lang="en-US" dirty="0"/>
              <a:t>		- Strategic</a:t>
            </a:r>
          </a:p>
          <a:p>
            <a:pPr marL="0" indent="0">
              <a:buNone/>
            </a:pPr>
            <a:r>
              <a:rPr lang="en-US" dirty="0"/>
              <a:t>		- Tactical</a:t>
            </a:r>
          </a:p>
          <a:p>
            <a:pPr marL="0" indent="0">
              <a:buNone/>
            </a:pPr>
            <a:r>
              <a:rPr lang="en-US" dirty="0"/>
              <a:t>		- Operational</a:t>
            </a:r>
          </a:p>
        </p:txBody>
      </p:sp>
    </p:spTree>
    <p:extLst>
      <p:ext uri="{BB962C8B-B14F-4D97-AF65-F5344CB8AC3E}">
        <p14:creationId xmlns:p14="http://schemas.microsoft.com/office/powerpoint/2010/main" val="1116361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01AA0-6DA5-2236-91B4-FE7BBA0A6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67EA-1B81-94EF-0A69-1830DB18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Layout Generator + Component Mapper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D7FF3-2115-38D9-0AC7-FFD0CABE5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 AI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No generic layouts – use dynamically generate layouts instead</a:t>
            </a:r>
          </a:p>
          <a:p>
            <a:pPr lvl="1"/>
            <a:r>
              <a:rPr lang="en-US" dirty="0"/>
              <a:t>Each component type (chart/table/KPI/map) has sizing rules that inform layout</a:t>
            </a:r>
          </a:p>
          <a:p>
            <a:pPr lvl="1"/>
            <a:r>
              <a:rPr lang="en-US" dirty="0"/>
              <a:t>Unique address of each box = Tab Number + Row Number + Col Number</a:t>
            </a:r>
          </a:p>
          <a:p>
            <a:pPr lvl="1"/>
            <a:r>
              <a:rPr lang="en-US" dirty="0"/>
              <a:t>Map components to layout based on importance / visibility</a:t>
            </a:r>
          </a:p>
          <a:p>
            <a:pPr lvl="1"/>
            <a:r>
              <a:rPr lang="en-US" dirty="0"/>
              <a:t>Each component has a unique ID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Extension point:</a:t>
            </a:r>
          </a:p>
          <a:p>
            <a:pPr lvl="1"/>
            <a:r>
              <a:rPr lang="en-US" dirty="0"/>
              <a:t>More fine-grained sizing options for each component type</a:t>
            </a:r>
          </a:p>
          <a:p>
            <a:pPr lvl="1"/>
            <a:r>
              <a:rPr lang="en-US" dirty="0"/>
              <a:t>Elements of strategic / tactical / operational considerations for layout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085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5547-325F-0C3A-5E43-67BD3DAD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E5AB-FBB0-A2F9-F20C-EA89B1D5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Wireframe Renderer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17953-6879-6EDB-7651-FA3B34554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Render wireframe using:</a:t>
            </a:r>
          </a:p>
          <a:p>
            <a:pPr lvl="1"/>
            <a:r>
              <a:rPr lang="en-US" dirty="0"/>
              <a:t>Spec</a:t>
            </a:r>
          </a:p>
          <a:p>
            <a:pPr lvl="1"/>
            <a:r>
              <a:rPr lang="en-US" dirty="0"/>
              <a:t>Layout</a:t>
            </a:r>
          </a:p>
          <a:p>
            <a:pPr lvl="1"/>
            <a:r>
              <a:rPr lang="en-US" dirty="0"/>
              <a:t>Component Mapping</a:t>
            </a:r>
          </a:p>
          <a:p>
            <a:pPr lvl="1"/>
            <a:r>
              <a:rPr lang="en-US" dirty="0"/>
              <a:t>Component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306408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B3C5-D360-E306-BE29-360D235A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6468-967D-5042-ED41-6DFCE037F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Wireframe Renderer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59539-B33B-5639-028B-B574B1A8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With AI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Generate HTML structure to scaffold the dashboard (boxes)</a:t>
            </a:r>
          </a:p>
          <a:p>
            <a:pPr lvl="1"/>
            <a:r>
              <a:rPr lang="en-US" dirty="0"/>
              <a:t>Generate the component representations using appropriate libraries (e.g. chart.js for charts)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Extension points:</a:t>
            </a:r>
          </a:p>
          <a:p>
            <a:pPr lvl="1"/>
            <a:r>
              <a:rPr lang="en-US" dirty="0"/>
              <a:t>Using “sketch” style visuals to keep focus on the WHAT</a:t>
            </a:r>
          </a:p>
          <a:p>
            <a:pPr lvl="1"/>
            <a:r>
              <a:rPr lang="en-US" dirty="0"/>
              <a:t>Accompanying html, </a:t>
            </a:r>
            <a:r>
              <a:rPr lang="en-US" dirty="0" err="1"/>
              <a:t>js</a:t>
            </a:r>
            <a:r>
              <a:rPr lang="en-US" dirty="0"/>
              <a:t>, </a:t>
            </a:r>
            <a:r>
              <a:rPr lang="en-US" dirty="0" err="1"/>
              <a:t>css</a:t>
            </a:r>
            <a:r>
              <a:rPr lang="en-US" dirty="0"/>
              <a:t> files for web app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691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E088-490F-8E56-F9B9-A67A1B75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888D-88ED-57AC-DA82-23AB77B76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Component scoring -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7F58C-CF52-581C-46F3-44C91D7CF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(On a scale of 1 to 3. Multiplied by 3 for scaling)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Benefit:</a:t>
            </a:r>
          </a:p>
          <a:p>
            <a:pPr marL="0" indent="0">
              <a:buNone/>
            </a:pPr>
            <a:r>
              <a:rPr lang="en-US" dirty="0"/>
              <a:t>⭐⭐⭐ HIGH (3 points)</a:t>
            </a:r>
            <a:br>
              <a:rPr lang="en-US" dirty="0"/>
            </a:br>
            <a:r>
              <a:rPr lang="en-US" sz="2200" dirty="0"/>
              <a:t>"We MUST have this. Can't function without it.“ Examples: Core sales metrics, critical KPIs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</a:t>
            </a:r>
          </a:p>
          <a:p>
            <a:pPr marL="0" indent="0">
              <a:buNone/>
            </a:pPr>
            <a:r>
              <a:rPr lang="en-US" dirty="0"/>
              <a:t>⭐⭐   MEDIUM (2 points)</a:t>
            </a:r>
            <a:br>
              <a:rPr lang="en-US" dirty="0"/>
            </a:br>
            <a:r>
              <a:rPr lang="en-US" sz="2200" dirty="0"/>
              <a:t>"We SHOULD have this. It's really useful.“ Examples: Helpful trend charts, performance tracking</a:t>
            </a:r>
          </a:p>
          <a:p>
            <a:pPr marL="0" indent="0">
              <a:buNone/>
            </a:pPr>
            <a:r>
              <a:rPr lang="en-US" dirty="0"/>
              <a:t>                          </a:t>
            </a:r>
          </a:p>
          <a:p>
            <a:pPr marL="0" indent="0">
              <a:buNone/>
            </a:pPr>
            <a:r>
              <a:rPr lang="en-US" dirty="0"/>
              <a:t>⭐     LOW (1 point)</a:t>
            </a:r>
            <a:br>
              <a:rPr lang="en-US" dirty="0"/>
            </a:br>
            <a:r>
              <a:rPr lang="en-US" sz="2200" dirty="0"/>
              <a:t>"We COULD have this. It's nice, but optional.“ Examples: Experimental views, extra detail</a:t>
            </a:r>
          </a:p>
        </p:txBody>
      </p:sp>
    </p:spTree>
    <p:extLst>
      <p:ext uri="{BB962C8B-B14F-4D97-AF65-F5344CB8AC3E}">
        <p14:creationId xmlns:p14="http://schemas.microsoft.com/office/powerpoint/2010/main" val="928270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1397-E0B0-BC51-98AD-759B5AA0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3FD0-2D8C-7B39-2937-1A4812300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Component scoring -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AC6EE-DF33-8E16-581C-CAA8289C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(All of these on a scale of 1 to 3)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Costs:</a:t>
            </a:r>
          </a:p>
          <a:p>
            <a:pPr>
              <a:buFontTx/>
              <a:buChar char="-"/>
            </a:pPr>
            <a:r>
              <a:rPr lang="en-US" dirty="0"/>
              <a:t>Data availability</a:t>
            </a:r>
          </a:p>
          <a:p>
            <a:pPr>
              <a:buFontTx/>
              <a:buChar char="-"/>
            </a:pPr>
            <a:r>
              <a:rPr lang="en-US" dirty="0"/>
              <a:t>Effort</a:t>
            </a:r>
          </a:p>
          <a:p>
            <a:pPr>
              <a:buFontTx/>
              <a:buChar char="-"/>
            </a:pPr>
            <a:r>
              <a:rPr lang="en-US" dirty="0"/>
              <a:t>Financial cost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84A84D-5DD0-61BF-97B2-29A97FFB9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037" y="3197286"/>
            <a:ext cx="7034793" cy="31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32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AA9B-CD10-BBC3-CFEE-53A4BA2B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E6685-AEAA-643F-224F-C3BBFBA1A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Component Scoring - Decision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4601C8-762B-AA1D-700D-3D82B318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260" y="1690688"/>
            <a:ext cx="4235430" cy="494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9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BF8FC-978C-D1EA-CAA1-2FB8C26D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5591-12D7-6019-10CF-9A491BE84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Component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D214-7CE1-7955-98B8-C16CBB0DC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With AI: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Benefits for each component extracted from DRD</a:t>
            </a:r>
          </a:p>
          <a:p>
            <a:pPr lvl="1"/>
            <a:r>
              <a:rPr lang="en-US" dirty="0"/>
              <a:t>Costs are updated manually and consultatively</a:t>
            </a:r>
          </a:p>
          <a:p>
            <a:pPr lvl="1"/>
            <a:r>
              <a:rPr lang="en-US" dirty="0"/>
              <a:t>Priority Score for component = Benefit -  Cost</a:t>
            </a:r>
          </a:p>
          <a:p>
            <a:pPr lvl="1"/>
            <a:r>
              <a:rPr lang="en-US" dirty="0"/>
              <a:t>Visually indicate (colored borders) what is immediately viable, what can be done with some effort and what is not worth it. </a:t>
            </a:r>
          </a:p>
          <a:p>
            <a:pPr lvl="1"/>
            <a:endParaRPr lang="en-US" dirty="0"/>
          </a:p>
          <a:p>
            <a:r>
              <a:rPr lang="en-US" dirty="0"/>
              <a:t>Extension points:</a:t>
            </a:r>
          </a:p>
          <a:p>
            <a:pPr lvl="1"/>
            <a:r>
              <a:rPr lang="en-US" dirty="0"/>
              <a:t>Customized scoring based on priorities, preferences. E.g., Benefits X 4</a:t>
            </a:r>
          </a:p>
        </p:txBody>
      </p:sp>
    </p:spTree>
    <p:extLst>
      <p:ext uri="{BB962C8B-B14F-4D97-AF65-F5344CB8AC3E}">
        <p14:creationId xmlns:p14="http://schemas.microsoft.com/office/powerpoint/2010/main" val="3373838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F8026-50A7-EF58-FB2E-34F7D34E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201F-D28A-14C3-11AE-C545392E7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Feedback and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DBAAE-5582-53B6-32FB-4C03D993B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Wireframes show the mirror: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“I don’t think this table is actually needed”</a:t>
            </a:r>
          </a:p>
          <a:p>
            <a:pPr lvl="1"/>
            <a:r>
              <a:rPr lang="en-US" dirty="0"/>
              <a:t>“This chart isn’t the one I want”</a:t>
            </a:r>
          </a:p>
          <a:p>
            <a:pPr lvl="1"/>
            <a:r>
              <a:rPr lang="en-US" dirty="0"/>
              <a:t>“This chart needs a comparison to last year’s sales”</a:t>
            </a:r>
          </a:p>
          <a:p>
            <a:pPr lvl="1"/>
            <a:r>
              <a:rPr lang="en-US" dirty="0"/>
              <a:t>“This KPI card also needs a comparison against targets”</a:t>
            </a:r>
          </a:p>
        </p:txBody>
      </p:sp>
    </p:spTree>
    <p:extLst>
      <p:ext uri="{BB962C8B-B14F-4D97-AF65-F5344CB8AC3E}">
        <p14:creationId xmlns:p14="http://schemas.microsoft.com/office/powerpoint/2010/main" val="3012164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1498-E2FE-369A-64CE-AFC4BA30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B90B-71DE-F018-F013-D282EE80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Feedback and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51C4D-B9F1-DCD2-59F8-C26721E6F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With AI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Add JS code to enable visual editing - moving boxes around and resizing them</a:t>
            </a:r>
          </a:p>
          <a:p>
            <a:pPr lvl="1"/>
            <a:r>
              <a:rPr lang="en-US" dirty="0"/>
              <a:t>Allow prompt-based editing as well. Identify component and then make changes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70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DC67-EFA9-BE4E-E5C3-D45707A3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54078-D96F-7997-723C-44178BC6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summary: The Lean BI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4E1E98-7F9F-93AA-8B51-08FD94E81604}"/>
              </a:ext>
            </a:extLst>
          </p:cNvPr>
          <p:cNvSpPr/>
          <p:nvPr/>
        </p:nvSpPr>
        <p:spPr>
          <a:xfrm>
            <a:off x="1609515" y="217223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1. Discovery Interviews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1EA49-BA48-38EA-03FD-2F3643A917CD}"/>
              </a:ext>
            </a:extLst>
          </p:cNvPr>
          <p:cNvSpPr/>
          <p:nvPr/>
        </p:nvSpPr>
        <p:spPr>
          <a:xfrm>
            <a:off x="4607985" y="217223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2. Dashboard Requirements Document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90ABB6-F8C2-68EC-ECD4-88E2B8F5054C}"/>
              </a:ext>
            </a:extLst>
          </p:cNvPr>
          <p:cNvSpPr/>
          <p:nvPr/>
        </p:nvSpPr>
        <p:spPr>
          <a:xfrm>
            <a:off x="7606455" y="217223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3. Dashboard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“Spec”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9FC8B4-35CE-184A-F25D-C5CA1861290F}"/>
              </a:ext>
            </a:extLst>
          </p:cNvPr>
          <p:cNvSpPr/>
          <p:nvPr/>
        </p:nvSpPr>
        <p:spPr>
          <a:xfrm>
            <a:off x="7606455" y="370766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4. Choose Component Representations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4349C4-87FF-E6E4-EBCC-0E47D6B9799F}"/>
              </a:ext>
            </a:extLst>
          </p:cNvPr>
          <p:cNvSpPr/>
          <p:nvPr/>
        </p:nvSpPr>
        <p:spPr>
          <a:xfrm>
            <a:off x="4607985" y="370766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5. Generate Tab Layouts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44B182-2DDD-1CF6-6F0F-4FEAFBDFDAEF}"/>
              </a:ext>
            </a:extLst>
          </p:cNvPr>
          <p:cNvSpPr/>
          <p:nvPr/>
        </p:nvSpPr>
        <p:spPr>
          <a:xfrm>
            <a:off x="1609515" y="370766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6. Generate wireframe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A94228-A6B5-92AE-4C80-306A1BEC291F}"/>
              </a:ext>
            </a:extLst>
          </p:cNvPr>
          <p:cNvSpPr/>
          <p:nvPr/>
        </p:nvSpPr>
        <p:spPr>
          <a:xfrm>
            <a:off x="1609515" y="524309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7. Prioritization and Scoring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29450F-1BF4-3AEB-07FB-E3481FBC0EEE}"/>
              </a:ext>
            </a:extLst>
          </p:cNvPr>
          <p:cNvSpPr/>
          <p:nvPr/>
        </p:nvSpPr>
        <p:spPr>
          <a:xfrm>
            <a:off x="4607985" y="5243091"/>
            <a:ext cx="2196676" cy="84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8. Feedback and Iteration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578721-A74D-458B-C930-64446EC8AC8A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3806191" y="259487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3AEEFCA-470E-00E4-EC18-F6573D8455B2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6804661" y="259487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7843536-1F39-3B5B-A256-8627A425E07B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704793" y="3017521"/>
            <a:ext cx="0" cy="69014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C79DDA-E55A-60BF-89F9-B8C52BB3AED9}"/>
              </a:ext>
            </a:extLst>
          </p:cNvPr>
          <p:cNvCxnSpPr>
            <a:cxnSpLocks/>
            <a:stCxn id="15" idx="1"/>
            <a:endCxn id="16" idx="3"/>
          </p:cNvCxnSpPr>
          <p:nvPr/>
        </p:nvCxnSpPr>
        <p:spPr>
          <a:xfrm flipH="1">
            <a:off x="6804661" y="413030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2C8896-D915-CE98-931B-A5B903D2CCF3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flipH="1">
            <a:off x="3806191" y="413030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A94179-ADF9-1266-985E-7B3D6595A61E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2707853" y="4552951"/>
            <a:ext cx="0" cy="69014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D499974-4173-5583-42CF-B11771DA972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3806191" y="5665736"/>
            <a:ext cx="80179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701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56727-F657-F9DD-12CB-43069DBD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971B-2C1B-A7BC-095B-EE473BFF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8305-FBF3-D846-664C-CCC07A38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Explore adding your own company-specific interview guide</a:t>
            </a:r>
          </a:p>
          <a:p>
            <a:r>
              <a:rPr lang="en-US" dirty="0"/>
              <a:t>Discovery Evaluation using your own criteria</a:t>
            </a:r>
          </a:p>
          <a:p>
            <a:r>
              <a:rPr lang="en-US" dirty="0"/>
              <a:t>DRD in your company format</a:t>
            </a:r>
          </a:p>
          <a:p>
            <a:r>
              <a:rPr lang="en-US" dirty="0"/>
              <a:t>Representation chooser with your own chooser / preferences</a:t>
            </a:r>
          </a:p>
          <a:p>
            <a:r>
              <a:rPr lang="en-US" dirty="0"/>
              <a:t>Custom scoring system based on your org priorities</a:t>
            </a:r>
          </a:p>
          <a:p>
            <a:r>
              <a:rPr lang="en-US" dirty="0"/>
              <a:t>Moving this to n8n / Lang Flow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68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8A8D-07D5-02B5-5268-C87B2D64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16583-FF72-6690-3CFC-B896C327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63BA7-DE61-2A46-D6FB-923069696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6605"/>
          </a:xfrm>
        </p:spPr>
        <p:txBody>
          <a:bodyPr>
            <a:normAutofit/>
          </a:bodyPr>
          <a:lstStyle/>
          <a:p>
            <a:r>
              <a:rPr lang="en-US" dirty="0"/>
              <a:t>Contact me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>
                <a:hlinkClick r:id="rId2"/>
              </a:rPr>
              <a:t>vikram@chartboss.ai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9916940826</a:t>
            </a:r>
          </a:p>
          <a:p>
            <a:pPr marL="457200" lvl="1" indent="0">
              <a:buNone/>
            </a:pPr>
            <a:r>
              <a:rPr lang="en-US" dirty="0">
                <a:hlinkClick r:id="rId3"/>
              </a:rPr>
              <a:t>https://linkedin.com/in/vikramnayak85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779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E4F1A-2BD0-890D-A170-A5D5CDC1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2A6E-15AD-5CA2-D199-21CA0965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please!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0B8F96-7839-C600-DD38-0737B8FC7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943" y="1690688"/>
            <a:ext cx="4355307" cy="439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1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1715</Words>
  <Application>Microsoft Office PowerPoint</Application>
  <PresentationFormat>Widescreen</PresentationFormat>
  <Paragraphs>272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Live Wireframing</vt:lpstr>
      <vt:lpstr>Today’s Agenda</vt:lpstr>
      <vt:lpstr>“Vexing” BI issue #1: Adoption is low</vt:lpstr>
      <vt:lpstr>“Vexing” BI issue #2: It’s too much effort</vt:lpstr>
      <vt:lpstr>“Vexing” BI issue #3: Hard to quantify ROI</vt:lpstr>
      <vt:lpstr>The BI Iceberg</vt:lpstr>
      <vt:lpstr>Is BI operating in a vacuum?</vt:lpstr>
      <vt:lpstr>Lean helps!</vt:lpstr>
      <vt:lpstr>How does wireframing fit in with Lean BI?</vt:lpstr>
      <vt:lpstr>So, what is a wireframe?</vt:lpstr>
      <vt:lpstr>The "Lean BI” process</vt:lpstr>
      <vt:lpstr>1. Discovery</vt:lpstr>
      <vt:lpstr>1. Discovery (contd.)</vt:lpstr>
      <vt:lpstr>2. Dashboard Requirements Document</vt:lpstr>
      <vt:lpstr>2. Dashboard Requirements Document</vt:lpstr>
      <vt:lpstr>3. Dashboard Spec</vt:lpstr>
      <vt:lpstr>3. Dashboard Spec</vt:lpstr>
      <vt:lpstr>4. Representation Chooser</vt:lpstr>
      <vt:lpstr>4. Representation Chooser</vt:lpstr>
      <vt:lpstr>5. Layout Generator + Component Mapper</vt:lpstr>
      <vt:lpstr>5. Layout Generator + Component Mapper</vt:lpstr>
      <vt:lpstr>6. Wireframe Renderer</vt:lpstr>
      <vt:lpstr>6. Wireframe Renderer</vt:lpstr>
      <vt:lpstr>7. Component scoring - Benefits</vt:lpstr>
      <vt:lpstr>7. Component scoring - Costs</vt:lpstr>
      <vt:lpstr>7. Component Scoring - Decision</vt:lpstr>
      <vt:lpstr>7. Component Scoring</vt:lpstr>
      <vt:lpstr>8. Feedback and Iteration</vt:lpstr>
      <vt:lpstr>8. Feedback and Iteration</vt:lpstr>
      <vt:lpstr>In summary: The Lean BI system</vt:lpstr>
      <vt:lpstr>Next steps</vt:lpstr>
      <vt:lpstr>Thanks!</vt:lpstr>
      <vt:lpstr>Feedback please!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vikram nayak</dc:creator>
  <cp:lastModifiedBy>vikram nayak</cp:lastModifiedBy>
  <cp:revision>156</cp:revision>
  <dcterms:created xsi:type="dcterms:W3CDTF">2025-11-29T14:35:20Z</dcterms:created>
  <dcterms:modified xsi:type="dcterms:W3CDTF">2025-12-05T06:59:50Z</dcterms:modified>
</cp:coreProperties>
</file>